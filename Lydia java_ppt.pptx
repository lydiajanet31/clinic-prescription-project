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embeddedFontLst>
    <p:embeddedFont>
      <p:font typeface="Arimo"/>
      <p:bold r:id="rId25"/>
      <p:boldItalic r:id="rId26"/>
    </p:embeddedFont>
    <p:embeddedFont>
      <p:font typeface="Shrikhand"/>
      <p:regular r:id="rId27"/>
    </p:embeddedFont>
    <p:embeddedFont>
      <p:font typeface="Big Shoulders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mo-boldItalic.fntdata"/><Relationship Id="rId25" Type="http://schemas.openxmlformats.org/officeDocument/2006/relationships/font" Target="fonts/Arimo-bold.fntdata"/><Relationship Id="rId28" Type="http://schemas.openxmlformats.org/officeDocument/2006/relationships/font" Target="fonts/BigShoulders-regular.fntdata"/><Relationship Id="rId27" Type="http://schemas.openxmlformats.org/officeDocument/2006/relationships/font" Target="fonts/Shrikhan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igShoulder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Google Shape;84;p13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3"/>
          <p:cNvSpPr/>
          <p:nvPr/>
        </p:nvSpPr>
        <p:spPr>
          <a:xfrm>
            <a:off x="-15002" y="-3"/>
            <a:ext cx="6104859" cy="10287000"/>
          </a:xfrm>
          <a:custGeom>
            <a:rect b="b" l="l" r="r" t="t"/>
            <a:pathLst>
              <a:path extrusionOk="0" h="13716000" w="8139811">
                <a:moveTo>
                  <a:pt x="0" y="0"/>
                </a:moveTo>
                <a:lnTo>
                  <a:pt x="8139811" y="0"/>
                </a:lnTo>
                <a:lnTo>
                  <a:pt x="8139811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grpSp>
        <p:nvGrpSpPr>
          <p:cNvPr id="86" name="Google Shape;86;p13"/>
          <p:cNvGrpSpPr/>
          <p:nvPr/>
        </p:nvGrpSpPr>
        <p:grpSpPr>
          <a:xfrm>
            <a:off x="465058" y="960120"/>
            <a:ext cx="5144786" cy="8419856"/>
            <a:chOff x="0" y="0"/>
            <a:chExt cx="6859714" cy="11226474"/>
          </a:xfrm>
        </p:grpSpPr>
        <p:sp>
          <p:nvSpPr>
            <p:cNvPr id="87" name="Google Shape;87;p13"/>
            <p:cNvSpPr/>
            <p:nvPr/>
          </p:nvSpPr>
          <p:spPr>
            <a:xfrm>
              <a:off x="0" y="0"/>
              <a:ext cx="6859710" cy="11226474"/>
            </a:xfrm>
            <a:custGeom>
              <a:rect b="b" l="l" r="r" t="t"/>
              <a:pathLst>
                <a:path extrusionOk="0" h="11226474" w="6859710">
                  <a:moveTo>
                    <a:pt x="0" y="0"/>
                  </a:moveTo>
                  <a:lnTo>
                    <a:pt x="6859710" y="0"/>
                  </a:lnTo>
                  <a:lnTo>
                    <a:pt x="685971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159978" r="-159978" t="0"/>
              </a:stretch>
            </a:blipFill>
            <a:ln>
              <a:noFill/>
            </a:ln>
          </p:spPr>
        </p:sp>
        <p:sp>
          <p:nvSpPr>
            <p:cNvPr id="88" name="Google Shape;88;p13"/>
            <p:cNvSpPr txBox="1"/>
            <p:nvPr/>
          </p:nvSpPr>
          <p:spPr>
            <a:xfrm>
              <a:off x="0" y="152400"/>
              <a:ext cx="6859714" cy="110740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7095449" y="3214659"/>
            <a:ext cx="10666800" cy="31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4316" lvl="1" marL="488633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Project Title: </a:t>
            </a:r>
            <a:r>
              <a:rPr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Clinic Prescription Record And Student Management System</a:t>
            </a:r>
            <a:endParaRPr sz="2700">
              <a:latin typeface="Arimo"/>
              <a:ea typeface="Arimo"/>
              <a:cs typeface="Arimo"/>
              <a:sym typeface="Arimo"/>
            </a:endParaRPr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Course: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Java Programming Mini Project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Student Name &amp; Roll No: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700">
                <a:latin typeface="Arimo"/>
                <a:ea typeface="Arimo"/>
                <a:cs typeface="Arimo"/>
                <a:sym typeface="Arimo"/>
              </a:rPr>
              <a:t>Lydia Janet C 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[25BCS03</a:t>
            </a:r>
            <a:r>
              <a:rPr lang="en-US" sz="2700">
                <a:latin typeface="Arimo"/>
                <a:ea typeface="Arimo"/>
                <a:cs typeface="Arimo"/>
                <a:sym typeface="Arimo"/>
              </a:rPr>
              <a:t>3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]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Department: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Computer Science </a:t>
            </a:r>
            <a:endParaRPr/>
          </a:p>
          <a:p>
            <a:pPr indent="-244316" lvl="1" marL="488632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Char char="•"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Mentor / Guide: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Dr.Boopalan Sundaramoorthy</a:t>
            </a:r>
            <a:endParaRPr/>
          </a:p>
        </p:txBody>
      </p:sp>
      <p:sp>
        <p:nvSpPr>
          <p:cNvPr descr="A blue and red logo  AI-generated content may be incorrect." id="90" name="Google Shape;90;p13"/>
          <p:cNvSpPr/>
          <p:nvPr/>
        </p:nvSpPr>
        <p:spPr>
          <a:xfrm>
            <a:off x="7049729" y="349996"/>
            <a:ext cx="10115836" cy="2528983"/>
          </a:xfrm>
          <a:custGeom>
            <a:rect b="b" l="l" r="r" t="t"/>
            <a:pathLst>
              <a:path extrusionOk="0" h="3371977" w="13487781">
                <a:moveTo>
                  <a:pt x="0" y="0"/>
                </a:moveTo>
                <a:lnTo>
                  <a:pt x="13487781" y="0"/>
                </a:lnTo>
                <a:lnTo>
                  <a:pt x="13487781" y="3371977"/>
                </a:lnTo>
                <a:lnTo>
                  <a:pt x="0" y="3371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4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14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98" name="Google Shape;98;p14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99" name="Google Shape;99;p14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00" name="Google Shape;100;p14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Introduction</a:t>
              </a:r>
              <a:endParaRPr/>
            </a:p>
          </p:txBody>
        </p:sp>
      </p:grpSp>
      <p:sp>
        <p:nvSpPr>
          <p:cNvPr id="101" name="Google Shape;101;p14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02" name="Google Shape;102;p14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4"/>
          <p:cNvSpPr txBox="1"/>
          <p:nvPr/>
        </p:nvSpPr>
        <p:spPr>
          <a:xfrm>
            <a:off x="4796500" y="3156825"/>
            <a:ext cx="11884800" cy="6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Overview of the Project and its Purpose</a:t>
            </a:r>
            <a:r>
              <a:rPr b="1" i="0" lang="en-US" sz="3199" u="none" cap="none" strike="noStrike">
                <a:solidFill>
                  <a:srgbClr val="F4FBFE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  <a:endParaRPr/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project is a GUI-based clinic management system developed using Java Swing.</a:t>
            </a:r>
            <a:endParaRPr b="0" i="0" sz="31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99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Problem Background and Motivation:</a:t>
            </a:r>
            <a:endParaRPr>
              <a:solidFill>
                <a:srgbClr val="1CADE4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Store patient details digitally, Track visit time slots, Generate prescriptions, Maintain patient history.</a:t>
            </a:r>
            <a:endParaRPr sz="31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1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Significance of the Project in Solving Real-World Issues:</a:t>
            </a:r>
            <a:endParaRPr>
              <a:solidFill>
                <a:srgbClr val="1CADE4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• </a:t>
            </a:r>
            <a:r>
              <a:rPr lang="en-US" sz="31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Unlike manual systems, this application ensures fast access, accuracy, and data safety.</a:t>
            </a:r>
            <a:endParaRPr b="0" i="0" sz="31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04" name="Google Shape;104;p14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05" name="Google Shape;105;p14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112;p15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4" name="Google Shape;114;p15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15" name="Google Shape;115;p15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16" name="Google Shape;116;p15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17" name="Google Shape;117;p15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Objective</a:t>
              </a:r>
              <a:endParaRPr/>
            </a:p>
          </p:txBody>
        </p:sp>
      </p:grpSp>
      <p:sp>
        <p:nvSpPr>
          <p:cNvPr id="118" name="Google Shape;118;p15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19" name="Google Shape;119;p15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15"/>
          <p:cNvSpPr txBox="1"/>
          <p:nvPr/>
        </p:nvSpPr>
        <p:spPr>
          <a:xfrm>
            <a:off x="4796511" y="3441573"/>
            <a:ext cx="11793600" cy="49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 design a user-friendly GUI system for clinics :</a:t>
            </a:r>
            <a:endParaRPr b="0" i="0" sz="33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 store patient and prescription details, avoid double   booking of time slots.</a:t>
            </a:r>
            <a:endParaRPr sz="33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 track patient visits branch-wise and doctor-wise ,</a:t>
            </a:r>
            <a:endParaRPr sz="33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implement file handling for permanent storage</a:t>
            </a:r>
            <a:endParaRPr sz="33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21" name="Google Shape;121;p15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22" name="Google Shape;122;p15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23" name="Google Shape;123;p15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24" name="Google Shape;124;p15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6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1" name="Google Shape;131;p16"/>
          <p:cNvSpPr/>
          <p:nvPr/>
        </p:nvSpPr>
        <p:spPr>
          <a:xfrm>
            <a:off x="401070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32" name="Google Shape;132;p16"/>
          <p:cNvGrpSpPr/>
          <p:nvPr/>
        </p:nvGrpSpPr>
        <p:grpSpPr>
          <a:xfrm>
            <a:off x="5163413" y="884901"/>
            <a:ext cx="11884896" cy="2249424"/>
            <a:chOff x="0" y="0"/>
            <a:chExt cx="15846529" cy="2999232"/>
          </a:xfrm>
        </p:grpSpPr>
        <p:sp>
          <p:nvSpPr>
            <p:cNvPr id="133" name="Google Shape;133;p16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34" name="Google Shape;134;p16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Problem Statement</a:t>
              </a:r>
              <a:endParaRPr/>
            </a:p>
          </p:txBody>
        </p:sp>
      </p:grpSp>
      <p:sp>
        <p:nvSpPr>
          <p:cNvPr id="135" name="Google Shape;135;p16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36" name="Google Shape;136;p16"/>
          <p:cNvCxnSpPr/>
          <p:nvPr/>
        </p:nvCxnSpPr>
        <p:spPr>
          <a:xfrm flipH="1" rot="10800000">
            <a:off x="4877671" y="1225005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" name="Google Shape;137;p16"/>
          <p:cNvSpPr txBox="1"/>
          <p:nvPr/>
        </p:nvSpPr>
        <p:spPr>
          <a:xfrm>
            <a:off x="4378700" y="2820733"/>
            <a:ext cx="11793600" cy="6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Current Issue / Gap:</a:t>
            </a:r>
            <a:endParaRPr>
              <a:solidFill>
                <a:srgbClr val="1CADE4"/>
              </a:solidFill>
            </a:endParaRPr>
          </a:p>
          <a:p>
            <a:pPr indent="-4000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clinic systems have issues like: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Limitations / Inefficiencies:</a:t>
            </a:r>
            <a:endParaRPr>
              <a:solidFill>
                <a:srgbClr val="1CADE4"/>
              </a:solidFill>
            </a:endParaRPr>
          </a:p>
          <a:p>
            <a:pPr indent="-4000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Paper-based records → easy to lose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 proper tracking of patient visits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Appointment clashes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Time-consuming data search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How the Project Solves It:</a:t>
            </a:r>
            <a:endParaRPr>
              <a:solidFill>
                <a:srgbClr val="1CADE4"/>
              </a:solidFill>
            </a:endParaRPr>
          </a:p>
          <a:p>
            <a:pPr indent="-4000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Digital storage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Slot booking validation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Instant data retrieval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38" name="Google Shape;138;p16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39" name="Google Shape;139;p16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40" name="Google Shape;140;p16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41" name="Google Shape;141;p16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Google Shape;146;p17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8" name="Google Shape;148;p17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49" name="Google Shape;149;p17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51" name="Google Shape;151;p17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Requirements</a:t>
              </a:r>
              <a:endParaRPr/>
            </a:p>
          </p:txBody>
        </p:sp>
      </p:grpSp>
      <p:sp>
        <p:nvSpPr>
          <p:cNvPr id="152" name="Google Shape;152;p17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53" name="Google Shape;153;p17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17"/>
          <p:cNvSpPr txBox="1"/>
          <p:nvPr/>
        </p:nvSpPr>
        <p:spPr>
          <a:xfrm>
            <a:off x="5249713" y="3789045"/>
            <a:ext cx="11793600" cy="54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Hardware Requirements:</a:t>
            </a:r>
            <a:endParaRPr>
              <a:solidFill>
                <a:srgbClr val="1CADE4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Processor: Intel i3 or above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RAM: 4GB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Storage: 500MB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Software Requirements:</a:t>
            </a:r>
            <a:endParaRPr>
              <a:solidFill>
                <a:srgbClr val="1CADE4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4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• </a:t>
            </a: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Language: Java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GUI: Swing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IDE: NetBeans / Eclipse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7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OS: Windows / Linux</a:t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4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55" name="Google Shape;155;p17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56" name="Google Shape;156;p17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57" name="Google Shape;157;p17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58" name="Google Shape;158;p17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p18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5" name="Google Shape;165;p18"/>
          <p:cNvSpPr/>
          <p:nvPr/>
        </p:nvSpPr>
        <p:spPr>
          <a:xfrm>
            <a:off x="4159120" y="726948"/>
            <a:ext cx="13422249" cy="8821388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66" name="Google Shape;166;p18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68" name="Google Shape;168;p18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Design</a:t>
              </a:r>
              <a:endParaRPr/>
            </a:p>
          </p:txBody>
        </p:sp>
      </p:grpSp>
      <p:sp>
        <p:nvSpPr>
          <p:cNvPr id="169" name="Google Shape;169;p18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70" name="Google Shape;170;p18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8"/>
          <p:cNvSpPr txBox="1"/>
          <p:nvPr/>
        </p:nvSpPr>
        <p:spPr>
          <a:xfrm>
            <a:off x="4796511" y="3261502"/>
            <a:ext cx="11793600" cy="4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System Structure &amp; Workflow:</a:t>
            </a:r>
            <a:endParaRPr b="1" i="0" sz="2700" u="none" cap="none" strike="noStrike">
              <a:solidFill>
                <a:srgbClr val="1CADE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Modules in Your Code: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Patient Entry Module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Appointment (Slot Booking) Module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Prescription Generator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Patient History Table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Dashboard Analytics Module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45720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File Handling Module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172" name="Google Shape;172;p18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73" name="Google Shape;173;p18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74" name="Google Shape;174;p18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75" name="Google Shape;175;p18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19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1" name="Google Shape;181;p19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182" name="Google Shape;182;p19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183" name="Google Shape;183;p19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System Design</a:t>
              </a:r>
              <a:endParaRPr/>
            </a:p>
          </p:txBody>
        </p:sp>
      </p:grpSp>
      <p:sp>
        <p:nvSpPr>
          <p:cNvPr id="184" name="Google Shape;184;p19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185" name="Google Shape;185;p19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186" name="Google Shape;186;p19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187" name="Google Shape;187;p19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188" name="Google Shape;188;p19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189" name="Google Shape;189;p19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sp>
        <p:nvSpPr>
          <p:cNvPr id="190" name="Google Shape;190;p19"/>
          <p:cNvSpPr txBox="1"/>
          <p:nvPr/>
        </p:nvSpPr>
        <p:spPr>
          <a:xfrm>
            <a:off x="4369162" y="3336798"/>
            <a:ext cx="4071342" cy="8045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Block Diagram</a:t>
            </a:r>
            <a:endParaRPr/>
          </a:p>
        </p:txBody>
      </p:sp>
      <p:pic>
        <p:nvPicPr>
          <p:cNvPr id="191" name="Google Shape;19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50625" y="4141350"/>
            <a:ext cx="6307025" cy="51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0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8" name="Google Shape;198;p20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199" name="Google Shape;199;p20"/>
          <p:cNvGrpSpPr/>
          <p:nvPr/>
        </p:nvGrpSpPr>
        <p:grpSpPr>
          <a:xfrm>
            <a:off x="4927783" y="1028700"/>
            <a:ext cx="11884896" cy="2249424"/>
            <a:chOff x="0" y="0"/>
            <a:chExt cx="15846529" cy="2999232"/>
          </a:xfrm>
        </p:grpSpPr>
        <p:sp>
          <p:nvSpPr>
            <p:cNvPr id="200" name="Google Shape;200;p20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01" name="Google Shape;201;p20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Module Description</a:t>
              </a:r>
              <a:endParaRPr/>
            </a:p>
          </p:txBody>
        </p:sp>
      </p:grpSp>
      <p:sp>
        <p:nvSpPr>
          <p:cNvPr id="202" name="Google Shape;202;p20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03" name="Google Shape;203;p20"/>
          <p:cNvCxnSpPr/>
          <p:nvPr/>
        </p:nvCxnSpPr>
        <p:spPr>
          <a:xfrm flipH="1" rot="10800000">
            <a:off x="4695060" y="1334566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20"/>
          <p:cNvSpPr txBox="1"/>
          <p:nvPr/>
        </p:nvSpPr>
        <p:spPr>
          <a:xfrm>
            <a:off x="4566084" y="2734743"/>
            <a:ext cx="12246600" cy="6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b="1" i="0" lang="en-US" sz="29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nput Module:</a:t>
            </a:r>
            <a:endParaRPr>
              <a:solidFill>
                <a:srgbClr val="1CADE4"/>
              </a:solidFill>
            </a:endParaRPr>
          </a:p>
          <a:p>
            <a:pPr indent="-419037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mo"/>
              <a:buChar char="●"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module collects user input such as patient personal details, visit information, symptoms, diagnosis, and prescription data required for recording and tracking.</a:t>
            </a:r>
            <a:endParaRPr b="0" i="0" sz="29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99">
                <a:solidFill>
                  <a:srgbClr val="F4FBFE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1" sz="2999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Processing Module:</a:t>
            </a:r>
            <a:endParaRPr>
              <a:solidFill>
                <a:srgbClr val="1CADE4"/>
              </a:solidFill>
            </a:endParaRPr>
          </a:p>
          <a:p>
            <a:pPr indent="-419037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mo"/>
              <a:buChar char="●"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module processes the entered data, applies necessary logic, and manages operations like adding new patient records, updating visit details, and organizing prescription histories.</a:t>
            </a:r>
            <a:endParaRPr b="0" i="0" sz="29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99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Output Module:</a:t>
            </a:r>
            <a:endParaRPr>
              <a:solidFill>
                <a:srgbClr val="1CADE4"/>
              </a:solidFill>
            </a:endParaRPr>
          </a:p>
          <a:p>
            <a:pPr indent="-419037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99"/>
              <a:buFont typeface="Arimo"/>
              <a:buChar char="●"/>
            </a:pPr>
            <a:r>
              <a:rPr b="0" i="0" lang="en-US" sz="29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This module displays the processed information, including patient visit history, prescription details, and reports, in a clear and readable format for clinic staff.</a:t>
            </a:r>
            <a:endParaRPr b="0" i="0" sz="299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205" name="Google Shape;205;p20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06" name="Google Shape;206;p20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07" name="Google Shape;207;p20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08" name="Google Shape;208;p20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" name="Google Shape;213;p21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5" name="Google Shape;215;p21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216" name="Google Shape;216;p21"/>
          <p:cNvGrpSpPr/>
          <p:nvPr/>
        </p:nvGrpSpPr>
        <p:grpSpPr>
          <a:xfrm>
            <a:off x="5270126" y="791049"/>
            <a:ext cx="11839176" cy="2249424"/>
            <a:chOff x="0" y="0"/>
            <a:chExt cx="15785568" cy="2999232"/>
          </a:xfrm>
        </p:grpSpPr>
        <p:sp>
          <p:nvSpPr>
            <p:cNvPr id="217" name="Google Shape;217;p21"/>
            <p:cNvSpPr/>
            <p:nvPr/>
          </p:nvSpPr>
          <p:spPr>
            <a:xfrm>
              <a:off x="0" y="0"/>
              <a:ext cx="15785568" cy="2999232"/>
            </a:xfrm>
            <a:custGeom>
              <a:rect b="b" l="l" r="r" t="t"/>
              <a:pathLst>
                <a:path extrusionOk="0" h="2999232" w="15785568">
                  <a:moveTo>
                    <a:pt x="0" y="0"/>
                  </a:moveTo>
                  <a:lnTo>
                    <a:pt x="15785568" y="0"/>
                  </a:lnTo>
                  <a:lnTo>
                    <a:pt x="15785568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-386" t="-52948"/>
              </a:stretch>
            </a:blipFill>
            <a:ln>
              <a:noFill/>
            </a:ln>
          </p:spPr>
        </p:sp>
        <p:sp>
          <p:nvSpPr>
            <p:cNvPr id="218" name="Google Shape;218;p21"/>
            <p:cNvSpPr txBox="1"/>
            <p:nvPr/>
          </p:nvSpPr>
          <p:spPr>
            <a:xfrm>
              <a:off x="0" y="152400"/>
              <a:ext cx="1578556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Algorithm </a:t>
              </a:r>
              <a:endParaRPr/>
            </a:p>
          </p:txBody>
        </p:sp>
      </p:grpSp>
      <p:sp>
        <p:nvSpPr>
          <p:cNvPr id="219" name="Google Shape;219;p21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20" name="Google Shape;220;p21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21"/>
          <p:cNvSpPr txBox="1"/>
          <p:nvPr/>
        </p:nvSpPr>
        <p:spPr>
          <a:xfrm>
            <a:off x="5789425" y="3031725"/>
            <a:ext cx="10800600" cy="6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0787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b="0" i="0" lang="en-US" sz="3499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Start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Load saved patient data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Display GUI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User enters details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Check slot availability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If available → Add patient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Generate prescription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Display in table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Save data to file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Show dashboard if needed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07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99"/>
              <a:buFont typeface="Arimo"/>
              <a:buChar char="●"/>
            </a:pPr>
            <a:r>
              <a:rPr lang="en-US" sz="34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Exit</a:t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222" name="Google Shape;222;p21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23" name="Google Shape;223;p21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24" name="Google Shape;224;p21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25" name="Google Shape;225;p21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0" name="Google Shape;230;p22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31" name="Google Shape;231;p22"/>
          <p:cNvGrpSpPr/>
          <p:nvPr/>
        </p:nvGrpSpPr>
        <p:grpSpPr>
          <a:xfrm>
            <a:off x="5203993" y="209660"/>
            <a:ext cx="11884896" cy="2249424"/>
            <a:chOff x="0" y="0"/>
            <a:chExt cx="15846529" cy="2999232"/>
          </a:xfrm>
        </p:grpSpPr>
        <p:sp>
          <p:nvSpPr>
            <p:cNvPr id="232" name="Google Shape;232;p22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33" name="Google Shape;233;p22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 Flowchart</a:t>
              </a:r>
              <a:endParaRPr/>
            </a:p>
          </p:txBody>
        </p:sp>
      </p:grpSp>
      <p:sp>
        <p:nvSpPr>
          <p:cNvPr id="234" name="Google Shape;234;p22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35" name="Google Shape;235;p22"/>
          <p:cNvCxnSpPr/>
          <p:nvPr/>
        </p:nvCxnSpPr>
        <p:spPr>
          <a:xfrm flipH="1" rot="10800000">
            <a:off x="4846614" y="634282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36" name="Google Shape;236;p22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37" name="Google Shape;237;p22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38" name="Google Shape;238;p22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39" name="Google Shape;239;p22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240" name="Google Shape;240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4000" y="2324100"/>
            <a:ext cx="10395225" cy="6304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5" name="Google Shape;245;p23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" name="Google Shape;246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7" name="Google Shape;247;p23"/>
          <p:cNvSpPr/>
          <p:nvPr/>
        </p:nvSpPr>
        <p:spPr>
          <a:xfrm>
            <a:off x="4391526" y="210550"/>
            <a:ext cx="13288027" cy="9938764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248" name="Google Shape;248;p23"/>
          <p:cNvGrpSpPr/>
          <p:nvPr/>
        </p:nvGrpSpPr>
        <p:grpSpPr>
          <a:xfrm>
            <a:off x="4993099" y="0"/>
            <a:ext cx="11953037" cy="2262321"/>
            <a:chOff x="0" y="0"/>
            <a:chExt cx="15846529" cy="2999232"/>
          </a:xfrm>
        </p:grpSpPr>
        <p:sp>
          <p:nvSpPr>
            <p:cNvPr id="249" name="Google Shape;249;p23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50" name="Google Shape;250;p23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42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Implementation</a:t>
              </a:r>
              <a:endParaRPr sz="1408"/>
            </a:p>
          </p:txBody>
        </p:sp>
      </p:grpSp>
      <p:sp>
        <p:nvSpPr>
          <p:cNvPr id="251" name="Google Shape;251;p23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52" name="Google Shape;252;p23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23"/>
          <p:cNvSpPr txBox="1"/>
          <p:nvPr/>
        </p:nvSpPr>
        <p:spPr>
          <a:xfrm>
            <a:off x="4796500" y="2262325"/>
            <a:ext cx="12752400" cy="71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The </a:t>
            </a:r>
            <a:r>
              <a:rPr b="1" lang="en-US" sz="2800">
                <a:solidFill>
                  <a:schemeClr val="lt1"/>
                </a:solidFill>
              </a:rPr>
              <a:t>Clinic Prescription Record and Patient Visit Tracking System</a:t>
            </a:r>
            <a:r>
              <a:rPr lang="en-US" sz="2800">
                <a:solidFill>
                  <a:schemeClr val="lt1"/>
                </a:solidFill>
              </a:rPr>
              <a:t> is implemented using programming techniques that ensure efficient handling of patient data and smooth system operation.</a:t>
            </a:r>
            <a:endParaRPr sz="28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1CADE4"/>
                </a:solidFill>
              </a:rPr>
              <a:t>Techniques Used:</a:t>
            </a:r>
            <a:br>
              <a:rPr b="1" lang="en-US" sz="2800">
                <a:solidFill>
                  <a:srgbClr val="1CADE4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 • Loops and conditional statements manage the menu-driven system and user interactions such as adding new patients, deleting records, saving data, and viewing the dashboard summary.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 • Functions (methods) and collections like ArrayLists are used to store and manage multiple patient records efficiently and to organize the program into modular, reusable components.</a:t>
            </a:r>
            <a:br>
              <a:rPr lang="en-US" sz="2800">
                <a:solidFill>
                  <a:schemeClr val="lt1"/>
                </a:solidFill>
              </a:rPr>
            </a:br>
            <a:r>
              <a:rPr lang="en-US" sz="2800">
                <a:solidFill>
                  <a:schemeClr val="lt1"/>
                </a:solidFill>
              </a:rPr>
              <a:t> • File handling through serialization is used to save patient records to a file and retrieve them when needed, ensuring persistent data storage and management across sessions.</a:t>
            </a:r>
            <a:endParaRPr sz="2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A blue and red logo  AI-generated content may be incorrect." id="254" name="Google Shape;254;p23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55" name="Google Shape;255;p23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56" name="Google Shape;256;p23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57" name="Google Shape;257;p23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24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63" name="Google Shape;263;p24"/>
          <p:cNvGrpSpPr/>
          <p:nvPr/>
        </p:nvGrpSpPr>
        <p:grpSpPr>
          <a:xfrm>
            <a:off x="4744633" y="209673"/>
            <a:ext cx="11884897" cy="2249424"/>
            <a:chOff x="0" y="0"/>
            <a:chExt cx="15846529" cy="2999232"/>
          </a:xfrm>
        </p:grpSpPr>
        <p:sp>
          <p:nvSpPr>
            <p:cNvPr id="264" name="Google Shape;264;p24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65" name="Google Shape;265;p24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66" name="Google Shape;266;p24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67" name="Google Shape;267;p24"/>
          <p:cNvCxnSpPr/>
          <p:nvPr/>
        </p:nvCxnSpPr>
        <p:spPr>
          <a:xfrm flipH="1" rot="10800000">
            <a:off x="5829433" y="1686600"/>
            <a:ext cx="28500" cy="140010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68" name="Google Shape;268;p24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69" name="Google Shape;269;p24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70" name="Google Shape;270;p24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71" name="Google Shape;271;p24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272" name="Google Shape;27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6000" y="2788700"/>
            <a:ext cx="10643524" cy="640292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6459300" y="9671400"/>
            <a:ext cx="77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Main Screen of the project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8" name="Google Shape;278;p25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79" name="Google Shape;279;p25"/>
          <p:cNvGrpSpPr/>
          <p:nvPr/>
        </p:nvGrpSpPr>
        <p:grpSpPr>
          <a:xfrm>
            <a:off x="5203993" y="884901"/>
            <a:ext cx="11884896" cy="2249424"/>
            <a:chOff x="0" y="0"/>
            <a:chExt cx="15846529" cy="2999232"/>
          </a:xfrm>
        </p:grpSpPr>
        <p:sp>
          <p:nvSpPr>
            <p:cNvPr id="280" name="Google Shape;280;p25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81" name="Google Shape;281;p25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82" name="Google Shape;282;p25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83" name="Google Shape;283;p25"/>
          <p:cNvCxnSpPr/>
          <p:nvPr/>
        </p:nvCxnSpPr>
        <p:spPr>
          <a:xfrm flipH="1" rot="10800000">
            <a:off x="4971139" y="1309524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284" name="Google Shape;284;p25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285" name="Google Shape;285;p25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286" name="Google Shape;286;p25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287" name="Google Shape;287;p25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288" name="Google Shape;28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150" y="3286725"/>
            <a:ext cx="11187151" cy="22494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 txBox="1"/>
          <p:nvPr/>
        </p:nvSpPr>
        <p:spPr>
          <a:xfrm>
            <a:off x="7644000" y="7098675"/>
            <a:ext cx="8084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/>
              <a:t>Patient Entr</a:t>
            </a:r>
            <a:r>
              <a:rPr b="1" lang="en-US" sz="2300"/>
              <a:t>y</a:t>
            </a:r>
            <a:r>
              <a:rPr b="1" lang="en-US" sz="2300"/>
              <a:t>User enters details</a:t>
            </a:r>
            <a:endParaRPr b="1"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26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95" name="Google Shape;295;p26"/>
          <p:cNvGrpSpPr/>
          <p:nvPr/>
        </p:nvGrpSpPr>
        <p:grpSpPr>
          <a:xfrm>
            <a:off x="5203993" y="884901"/>
            <a:ext cx="11884896" cy="2249424"/>
            <a:chOff x="0" y="0"/>
            <a:chExt cx="15846529" cy="2999232"/>
          </a:xfrm>
        </p:grpSpPr>
        <p:sp>
          <p:nvSpPr>
            <p:cNvPr id="296" name="Google Shape;296;p26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297" name="Google Shape;297;p26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298" name="Google Shape;298;p26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299" name="Google Shape;299;p26"/>
          <p:cNvCxnSpPr/>
          <p:nvPr/>
        </p:nvCxnSpPr>
        <p:spPr>
          <a:xfrm flipH="1" rot="10800000">
            <a:off x="4971139" y="1309524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300" name="Google Shape;300;p26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01" name="Google Shape;301;p26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02" name="Google Shape;302;p26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03" name="Google Shape;303;p26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304" name="Google Shape;30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4000" y="3017925"/>
            <a:ext cx="12113324" cy="518862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7176975" y="9171175"/>
            <a:ext cx="7572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/>
              <a:t>Patient History Table Displays all record</a:t>
            </a:r>
            <a:endParaRPr b="1"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0" name="Google Shape;310;p27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1" name="Google Shape;311;p27"/>
          <p:cNvGrpSpPr/>
          <p:nvPr/>
        </p:nvGrpSpPr>
        <p:grpSpPr>
          <a:xfrm>
            <a:off x="5203993" y="726948"/>
            <a:ext cx="11884896" cy="2249424"/>
            <a:chOff x="0" y="0"/>
            <a:chExt cx="15846529" cy="2999232"/>
          </a:xfrm>
        </p:grpSpPr>
        <p:sp>
          <p:nvSpPr>
            <p:cNvPr id="312" name="Google Shape;312;p27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13" name="Google Shape;313;p27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0" u="none" cap="none" strike="noStrike">
                  <a:solidFill>
                    <a:srgbClr val="000000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Output Screens</a:t>
              </a:r>
              <a:endParaRPr/>
            </a:p>
          </p:txBody>
        </p:sp>
      </p:grpSp>
      <p:sp>
        <p:nvSpPr>
          <p:cNvPr id="314" name="Google Shape;314;p27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15" name="Google Shape;315;p27"/>
          <p:cNvCxnSpPr/>
          <p:nvPr/>
        </p:nvCxnSpPr>
        <p:spPr>
          <a:xfrm flipH="1" rot="10800000">
            <a:off x="4971139" y="1309524"/>
            <a:ext cx="28572" cy="1400179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A blue and red logo  AI-generated content may be incorrect." id="316" name="Google Shape;316;p27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17" name="Google Shape;317;p27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18" name="Google Shape;318;p27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19" name="Google Shape;319;p27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  <p:pic>
        <p:nvPicPr>
          <p:cNvPr id="320" name="Google Shape;320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1600" y="3151625"/>
            <a:ext cx="8071175" cy="4177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6604325" y="8600475"/>
            <a:ext cx="566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/>
              <a:t> DashboardnTotal Patients</a:t>
            </a:r>
            <a:endParaRPr b="1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28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8" name="Google Shape;328;p28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29" name="Google Shape;329;p28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330" name="Google Shape;330;p28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31" name="Google Shape;331;p28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Results &amp; Discussion</a:t>
              </a:r>
              <a:endParaRPr/>
            </a:p>
          </p:txBody>
        </p:sp>
      </p:grpSp>
      <p:sp>
        <p:nvSpPr>
          <p:cNvPr id="332" name="Google Shape;332;p28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33" name="Google Shape;333;p28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28"/>
          <p:cNvSpPr txBox="1"/>
          <p:nvPr/>
        </p:nvSpPr>
        <p:spPr>
          <a:xfrm>
            <a:off x="4498979" y="3451098"/>
            <a:ext cx="11793600" cy="5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5387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System works successfully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Prevents duplicate slot booking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Stores data permanently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Easy to use GUI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099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Challenges:</a:t>
            </a:r>
            <a:endParaRPr sz="3099">
              <a:solidFill>
                <a:srgbClr val="1CADE4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Managing file storage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Designing UI layout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5387" lvl="0" marL="45720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99"/>
              <a:buFont typeface="Arimo"/>
              <a:buChar char="●"/>
            </a:pPr>
            <a:r>
              <a:rPr lang="en-US" sz="30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Handling user input errors</a:t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9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35" name="Google Shape;335;p28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36" name="Google Shape;336;p28"/>
          <p:cNvGrpSpPr/>
          <p:nvPr/>
        </p:nvGrpSpPr>
        <p:grpSpPr>
          <a:xfrm>
            <a:off x="849678" y="884901"/>
            <a:ext cx="2816986" cy="8419853"/>
            <a:chOff x="0" y="0"/>
            <a:chExt cx="3755980" cy="11226472"/>
          </a:xfrm>
        </p:grpSpPr>
        <p:sp>
          <p:nvSpPr>
            <p:cNvPr id="337" name="Google Shape;337;p28"/>
            <p:cNvSpPr/>
            <p:nvPr/>
          </p:nvSpPr>
          <p:spPr>
            <a:xfrm>
              <a:off x="0" y="0"/>
              <a:ext cx="3755980" cy="11226472"/>
            </a:xfrm>
            <a:custGeom>
              <a:rect b="b" l="l" r="r" t="t"/>
              <a:pathLst>
                <a:path extrusionOk="0" h="11226472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2"/>
                  </a:lnTo>
                  <a:lnTo>
                    <a:pt x="0" y="1122647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38" name="Google Shape;338;p28"/>
            <p:cNvSpPr txBox="1"/>
            <p:nvPr/>
          </p:nvSpPr>
          <p:spPr>
            <a:xfrm>
              <a:off x="0" y="66675"/>
              <a:ext cx="3755974" cy="111597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C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3" name="Google Shape;343;p29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4" name="Google Shape;344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5" name="Google Shape;345;p29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46" name="Google Shape;346;p29"/>
          <p:cNvGrpSpPr/>
          <p:nvPr/>
        </p:nvGrpSpPr>
        <p:grpSpPr>
          <a:xfrm>
            <a:off x="5203993" y="1182624"/>
            <a:ext cx="11884896" cy="2249424"/>
            <a:chOff x="0" y="0"/>
            <a:chExt cx="15846529" cy="2999232"/>
          </a:xfrm>
        </p:grpSpPr>
        <p:sp>
          <p:nvSpPr>
            <p:cNvPr id="347" name="Google Shape;347;p29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48" name="Google Shape;348;p29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Conclusion &amp; Future Enhancement</a:t>
              </a:r>
              <a:endParaRPr/>
            </a:p>
          </p:txBody>
        </p:sp>
      </p:grpSp>
      <p:sp>
        <p:nvSpPr>
          <p:cNvPr id="349" name="Google Shape;349;p29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50" name="Google Shape;350;p29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29"/>
          <p:cNvSpPr txBox="1"/>
          <p:nvPr/>
        </p:nvSpPr>
        <p:spPr>
          <a:xfrm>
            <a:off x="4796511" y="3099181"/>
            <a:ext cx="11793600" cy="59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4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Conclusion:</a:t>
            </a:r>
            <a:endParaRPr>
              <a:solidFill>
                <a:srgbClr val="1CADE4"/>
              </a:solidFill>
            </a:endParaRPr>
          </a:p>
          <a:p>
            <a:pPr indent="-422212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49"/>
              <a:buFont typeface="Arimo"/>
              <a:buChar char="●"/>
            </a:pPr>
            <a:r>
              <a:rPr lang="en-US" sz="30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project successfully implements a Smart Clinic Management System.</a:t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22212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49"/>
              <a:buFont typeface="Arimo"/>
              <a:buChar char="●"/>
            </a:pPr>
            <a:r>
              <a:rPr lang="en-US" sz="30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It Improves clinic efficiency, Reduces manual work, Prevents        appointment conflicts, Provides quick patient access.</a:t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49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4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Future Enhancements:</a:t>
            </a:r>
            <a:endParaRPr>
              <a:solidFill>
                <a:srgbClr val="1CADE4"/>
              </a:solidFill>
            </a:endParaRPr>
          </a:p>
          <a:p>
            <a:pPr indent="-422212" lvl="0" marL="45720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49"/>
              <a:buFont typeface="Arimo"/>
              <a:buChar char="●"/>
            </a:pPr>
            <a:r>
              <a:rPr lang="en-US" sz="30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Add Search functionality, Edit/Update patient details,Use Database (MySQL) instead of file, Print prescription feature, </a:t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4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	Login system for doctors.</a:t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4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52" name="Google Shape;352;p29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53" name="Google Shape;353;p29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54" name="Google Shape;354;p29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55" name="Google Shape;355;p29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30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2" name="Google Shape;362;p30"/>
          <p:cNvSpPr/>
          <p:nvPr/>
        </p:nvSpPr>
        <p:spPr>
          <a:xfrm>
            <a:off x="4159120" y="726948"/>
            <a:ext cx="13422248" cy="8821389"/>
          </a:xfrm>
          <a:custGeom>
            <a:rect b="b" l="l" r="r" t="t"/>
            <a:pathLst>
              <a:path extrusionOk="0" h="11761851" w="17896332">
                <a:moveTo>
                  <a:pt x="0" y="0"/>
                </a:moveTo>
                <a:lnTo>
                  <a:pt x="17896332" y="0"/>
                </a:lnTo>
                <a:lnTo>
                  <a:pt x="17896332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grpSp>
        <p:nvGrpSpPr>
          <p:cNvPr id="363" name="Google Shape;363;p30"/>
          <p:cNvGrpSpPr/>
          <p:nvPr/>
        </p:nvGrpSpPr>
        <p:grpSpPr>
          <a:xfrm>
            <a:off x="5178943" y="791049"/>
            <a:ext cx="11884897" cy="2249424"/>
            <a:chOff x="0" y="0"/>
            <a:chExt cx="15846529" cy="2999232"/>
          </a:xfrm>
        </p:grpSpPr>
        <p:sp>
          <p:nvSpPr>
            <p:cNvPr id="364" name="Google Shape;364;p30"/>
            <p:cNvSpPr/>
            <p:nvPr/>
          </p:nvSpPr>
          <p:spPr>
            <a:xfrm>
              <a:off x="0" y="0"/>
              <a:ext cx="15846529" cy="2999232"/>
            </a:xfrm>
            <a:custGeom>
              <a:rect b="b" l="l" r="r" t="t"/>
              <a:pathLst>
                <a:path extrusionOk="0" h="2999232" w="15846529">
                  <a:moveTo>
                    <a:pt x="0" y="0"/>
                  </a:moveTo>
                  <a:lnTo>
                    <a:pt x="15846529" y="0"/>
                  </a:lnTo>
                  <a:lnTo>
                    <a:pt x="15846529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52948" l="0" r="0" t="-52948"/>
              </a:stretch>
            </a:blipFill>
            <a:ln>
              <a:noFill/>
            </a:ln>
          </p:spPr>
        </p:sp>
        <p:sp>
          <p:nvSpPr>
            <p:cNvPr id="365" name="Google Shape;365;p30"/>
            <p:cNvSpPr txBox="1"/>
            <p:nvPr/>
          </p:nvSpPr>
          <p:spPr>
            <a:xfrm>
              <a:off x="0" y="152400"/>
              <a:ext cx="15846527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References / Acknowledgement</a:t>
              </a:r>
              <a:endParaRPr/>
            </a:p>
          </p:txBody>
        </p:sp>
      </p:grpSp>
      <p:sp>
        <p:nvSpPr>
          <p:cNvPr id="366" name="Google Shape;366;p30"/>
          <p:cNvSpPr/>
          <p:nvPr/>
        </p:nvSpPr>
        <p:spPr>
          <a:xfrm>
            <a:off x="712727" y="726948"/>
            <a:ext cx="3193446" cy="8821389"/>
          </a:xfrm>
          <a:custGeom>
            <a:rect b="b" l="l" r="r" t="t"/>
            <a:pathLst>
              <a:path extrusionOk="0" h="11761851" w="4257929">
                <a:moveTo>
                  <a:pt x="0" y="0"/>
                </a:moveTo>
                <a:lnTo>
                  <a:pt x="4257929" y="0"/>
                </a:lnTo>
                <a:lnTo>
                  <a:pt x="4257929" y="11761851"/>
                </a:lnTo>
                <a:lnTo>
                  <a:pt x="0" y="11761851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cxnSp>
        <p:nvCxnSpPr>
          <p:cNvPr id="367" name="Google Shape;367;p30"/>
          <p:cNvCxnSpPr/>
          <p:nvPr/>
        </p:nvCxnSpPr>
        <p:spPr>
          <a:xfrm rot="-5329860">
            <a:off x="4110561" y="22205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8" name="Google Shape;368;p30"/>
          <p:cNvSpPr txBox="1"/>
          <p:nvPr/>
        </p:nvSpPr>
        <p:spPr>
          <a:xfrm>
            <a:off x="4692325" y="2615849"/>
            <a:ext cx="11640900" cy="84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References:</a:t>
            </a:r>
            <a:endParaRPr>
              <a:solidFill>
                <a:srgbClr val="1CADE4"/>
              </a:solidFill>
            </a:endParaRPr>
          </a:p>
          <a:p>
            <a:pPr indent="-4000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Electronic Health Records: A Practical Guide for Professional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Health Informatics: Practical Guide for Healthcare and Information Technology Professionals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World Health Organization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TutorialsPoint &amp; GeeksforGeeks</a:t>
            </a:r>
            <a:endParaRPr sz="2700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0005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mo"/>
              <a:buChar char="●"/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Academic project materials and classroom notes </a:t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1CADE4"/>
                </a:solidFill>
                <a:latin typeface="Arimo"/>
                <a:ea typeface="Arimo"/>
                <a:cs typeface="Arimo"/>
                <a:sym typeface="Arimo"/>
              </a:rPr>
              <a:t>Acknowledgement:</a:t>
            </a:r>
            <a:endParaRPr>
              <a:solidFill>
                <a:srgbClr val="1CADE4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          </a:t>
            </a:r>
            <a:r>
              <a:rPr b="0" i="0" lang="en-US" sz="3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</a:t>
            </a:r>
            <a:r>
              <a:rPr lang="en-US" sz="2800">
                <a:solidFill>
                  <a:srgbClr val="F4FBFE"/>
                </a:solidFill>
              </a:rPr>
              <a:t>We sincerely thank our project guide and faculty members for their valuable guidance and support in developing the </a:t>
            </a:r>
            <a:r>
              <a:rPr b="1" lang="en-US" sz="2800">
                <a:solidFill>
                  <a:srgbClr val="F4FBFE"/>
                </a:solidFill>
              </a:rPr>
              <a:t>Clinic Prescription Record and Patient Visit Tracking System</a:t>
            </a:r>
            <a:r>
              <a:rPr lang="en-US" sz="2800">
                <a:solidFill>
                  <a:srgbClr val="F4FBFE"/>
                </a:solidFill>
              </a:rPr>
              <a:t>. We also express our gratitude to our institution for providing the necessary resources. Finally, we appreciate the efforts and teamwork of all members involved in completing this project successfully</a:t>
            </a:r>
            <a:r>
              <a:rPr lang="en-US" sz="2600">
                <a:solidFill>
                  <a:srgbClr val="F4FBFE"/>
                </a:solidFill>
              </a:rPr>
              <a:t>.</a:t>
            </a:r>
            <a:endParaRPr sz="2600">
              <a:solidFill>
                <a:srgbClr val="F4FBFE"/>
              </a:solidFill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900">
              <a:solidFill>
                <a:srgbClr val="F4FBFE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descr="A blue and red logo  AI-generated content may be incorrect." id="369" name="Google Shape;369;p30"/>
          <p:cNvSpPr/>
          <p:nvPr/>
        </p:nvSpPr>
        <p:spPr>
          <a:xfrm>
            <a:off x="849678" y="982247"/>
            <a:ext cx="2817019" cy="704278"/>
          </a:xfrm>
          <a:custGeom>
            <a:rect b="b" l="l" r="r" t="t"/>
            <a:pathLst>
              <a:path extrusionOk="0" h="939038" w="3756025">
                <a:moveTo>
                  <a:pt x="0" y="0"/>
                </a:moveTo>
                <a:lnTo>
                  <a:pt x="3756025" y="0"/>
                </a:lnTo>
                <a:lnTo>
                  <a:pt x="3756025" y="939038"/>
                </a:lnTo>
                <a:lnTo>
                  <a:pt x="0" y="9390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4" l="0" r="1" t="0"/>
            </a:stretch>
          </a:blipFill>
          <a:ln>
            <a:noFill/>
          </a:ln>
        </p:spPr>
      </p:sp>
      <p:grpSp>
        <p:nvGrpSpPr>
          <p:cNvPr id="370" name="Google Shape;370;p30"/>
          <p:cNvGrpSpPr/>
          <p:nvPr/>
        </p:nvGrpSpPr>
        <p:grpSpPr>
          <a:xfrm>
            <a:off x="849678" y="884901"/>
            <a:ext cx="2816986" cy="8419856"/>
            <a:chOff x="0" y="0"/>
            <a:chExt cx="3755980" cy="11226474"/>
          </a:xfrm>
        </p:grpSpPr>
        <p:sp>
          <p:nvSpPr>
            <p:cNvPr id="371" name="Google Shape;371;p30"/>
            <p:cNvSpPr/>
            <p:nvPr/>
          </p:nvSpPr>
          <p:spPr>
            <a:xfrm>
              <a:off x="0" y="0"/>
              <a:ext cx="3755980" cy="11226474"/>
            </a:xfrm>
            <a:custGeom>
              <a:rect b="b" l="l" r="r" t="t"/>
              <a:pathLst>
                <a:path extrusionOk="0" h="11226474" w="3755980">
                  <a:moveTo>
                    <a:pt x="0" y="0"/>
                  </a:moveTo>
                  <a:lnTo>
                    <a:pt x="3755980" y="0"/>
                  </a:lnTo>
                  <a:lnTo>
                    <a:pt x="3755980" y="11226474"/>
                  </a:lnTo>
                  <a:lnTo>
                    <a:pt x="0" y="11226474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0" l="-333494" r="-333494" t="0"/>
              </a:stretch>
            </a:blipFill>
            <a:ln>
              <a:noFill/>
            </a:ln>
          </p:spPr>
        </p:sp>
        <p:sp>
          <p:nvSpPr>
            <p:cNvPr id="372" name="Google Shape;372;p30"/>
            <p:cNvSpPr txBox="1"/>
            <p:nvPr/>
          </p:nvSpPr>
          <p:spPr>
            <a:xfrm>
              <a:off x="0" y="66675"/>
              <a:ext cx="3755974" cy="1115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0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Java Programming Project Presentation</a:t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4FBFE"/>
            </a:gs>
            <a:gs pos="74000">
              <a:srgbClr val="99DAF3"/>
            </a:gs>
            <a:gs pos="83000">
              <a:srgbClr val="99DAF3"/>
            </a:gs>
            <a:gs pos="100000">
              <a:srgbClr val="BBE6F7"/>
            </a:gs>
          </a:gsLst>
          <a:lin ang="5400000" scaled="0"/>
        </a:gra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7" name="Google Shape;377;p31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8" name="Google Shape;378;p3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9" name="Google Shape;379;p31"/>
          <p:cNvSpPr/>
          <p:nvPr/>
        </p:nvSpPr>
        <p:spPr>
          <a:xfrm>
            <a:off x="491319" y="482594"/>
            <a:ext cx="17326736" cy="9321831"/>
          </a:xfrm>
          <a:custGeom>
            <a:rect b="b" l="l" r="r" t="t"/>
            <a:pathLst>
              <a:path extrusionOk="0" h="12429109" w="23102315">
                <a:moveTo>
                  <a:pt x="0" y="0"/>
                </a:moveTo>
                <a:lnTo>
                  <a:pt x="23102315" y="0"/>
                </a:lnTo>
                <a:lnTo>
                  <a:pt x="23102315" y="12429109"/>
                </a:lnTo>
                <a:lnTo>
                  <a:pt x="0" y="12429109"/>
                </a:lnTo>
                <a:close/>
              </a:path>
            </a:pathLst>
          </a:custGeom>
          <a:solidFill>
            <a:srgbClr val="1CADE4"/>
          </a:solidFill>
          <a:ln>
            <a:noFill/>
          </a:ln>
        </p:spPr>
      </p:sp>
      <p:grpSp>
        <p:nvGrpSpPr>
          <p:cNvPr id="380" name="Google Shape;380;p31"/>
          <p:cNvGrpSpPr/>
          <p:nvPr/>
        </p:nvGrpSpPr>
        <p:grpSpPr>
          <a:xfrm>
            <a:off x="1536192" y="877824"/>
            <a:ext cx="15494508" cy="2249424"/>
            <a:chOff x="0" y="0"/>
            <a:chExt cx="20659344" cy="2999232"/>
          </a:xfrm>
        </p:grpSpPr>
        <p:sp>
          <p:nvSpPr>
            <p:cNvPr id="381" name="Google Shape;381;p31"/>
            <p:cNvSpPr/>
            <p:nvPr/>
          </p:nvSpPr>
          <p:spPr>
            <a:xfrm>
              <a:off x="0" y="0"/>
              <a:ext cx="20659342" cy="2999232"/>
            </a:xfrm>
            <a:custGeom>
              <a:rect b="b" l="l" r="r" t="t"/>
              <a:pathLst>
                <a:path extrusionOk="0" h="2999232" w="20659342">
                  <a:moveTo>
                    <a:pt x="0" y="0"/>
                  </a:moveTo>
                  <a:lnTo>
                    <a:pt x="20659342" y="0"/>
                  </a:lnTo>
                  <a:lnTo>
                    <a:pt x="20659342" y="2999232"/>
                  </a:lnTo>
                  <a:lnTo>
                    <a:pt x="0" y="2999232"/>
                  </a:lnTo>
                  <a:close/>
                </a:path>
              </a:pathLst>
            </a:custGeom>
            <a:blipFill rotWithShape="1">
              <a:blip r:embed="rId3">
                <a:alphaModFix amt="0"/>
              </a:blip>
              <a:stretch>
                <a:fillRect b="-84214" l="0" r="0" t="-84214"/>
              </a:stretch>
            </a:blipFill>
            <a:ln>
              <a:noFill/>
            </a:ln>
          </p:spPr>
        </p:sp>
        <p:sp>
          <p:nvSpPr>
            <p:cNvPr id="382" name="Google Shape;382;p31"/>
            <p:cNvSpPr txBox="1"/>
            <p:nvPr/>
          </p:nvSpPr>
          <p:spPr>
            <a:xfrm>
              <a:off x="0" y="152400"/>
              <a:ext cx="20659344" cy="28468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0" u="none" cap="none" strike="noStrike">
                  <a:solidFill>
                    <a:srgbClr val="FFFFFF"/>
                  </a:solidFill>
                  <a:latin typeface="Big Shoulders"/>
                  <a:ea typeface="Big Shoulders"/>
                  <a:cs typeface="Big Shoulders"/>
                  <a:sym typeface="Big Shoulders"/>
                </a:rPr>
                <a:t>Thank You</a:t>
              </a:r>
              <a:endParaRPr/>
            </a:p>
          </p:txBody>
        </p:sp>
      </p:grpSp>
      <p:cxnSp>
        <p:nvCxnSpPr>
          <p:cNvPr id="383" name="Google Shape;383;p31"/>
          <p:cNvCxnSpPr/>
          <p:nvPr/>
        </p:nvCxnSpPr>
        <p:spPr>
          <a:xfrm rot="-5329860">
            <a:off x="442770" y="1915763"/>
            <a:ext cx="1400470" cy="0"/>
          </a:xfrm>
          <a:prstGeom prst="straightConnector1">
            <a:avLst/>
          </a:prstGeom>
          <a:noFill/>
          <a:ln cap="rnd" cmpd="sng" w="19050">
            <a:solidFill>
              <a:srgbClr val="1CADE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1"/>
          <p:cNvSpPr txBox="1"/>
          <p:nvPr/>
        </p:nvSpPr>
        <p:spPr>
          <a:xfrm>
            <a:off x="1581912" y="3484245"/>
            <a:ext cx="15403200" cy="33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399" u="none" cap="none" strike="noStrike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“In conclusion, this project demonstrates how automation can simplify </a:t>
            </a:r>
            <a:r>
              <a:rPr lang="en-US" sz="4399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clinic prescription record and patient visit tracking system </a:t>
            </a:r>
            <a:r>
              <a:rPr b="0" i="0" lang="en-US" sz="4399" u="none" cap="none" strike="noStrike">
                <a:solidFill>
                  <a:srgbClr val="FFFFFF"/>
                </a:solidFill>
                <a:latin typeface="Shrikhand"/>
                <a:ea typeface="Shrikhand"/>
                <a:cs typeface="Shrikhand"/>
                <a:sym typeface="Shrikhand"/>
              </a:rPr>
              <a:t>improving efficiency, accuracy, and overall user experience.”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